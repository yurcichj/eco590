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9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928f0f2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928f0f2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928f0f2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0928f0f2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0928f0f2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0928f0f2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8525b82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8525b82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0928f0f2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0928f0f2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0928f0f2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0928f0f2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0c6ae4c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0c6ae4c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0928f0f2b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0928f0f2b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Olympic Odysseys: The Impact of the "Golden Goal" On The Price Of Hockey Cards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Jude Yurcich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4063500" cy="4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Sports card market: Famous for being speculative and high-value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Highest priced card: $12.9 million for joint Bryant/Jordan card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2026 Winter Olympics caused Jack Hughes’ stock to rise immensely, including Young Guns cards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300" y="1499313"/>
            <a:ext cx="4775701" cy="2678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/>
              <a:t>Did the 2026 Winter Olympics results cause Jack Hughes' graded rookie cards to rise in value?</a:t>
            </a:r>
            <a:endParaRPr sz="360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0542" y="2571750"/>
            <a:ext cx="153952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4840500" cy="4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used SerpApi’s eBay search API to collect my 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Documentation was fairly straightforward as it was all explained on SerpApi’s website (for example, “buying_format” and “engine” were self-explanatory and easy to use)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understand, I immersed myself in the website, reading all the necessary information to get where I needed to go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0" y="1238250"/>
            <a:ext cx="26670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Parameters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1666" y="572700"/>
            <a:ext cx="4657259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8088" y="3449249"/>
            <a:ext cx="5684449" cy="169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4572000" cy="4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had several variables for my project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my regression, I used the Price, Shipping, Sold After 2/22/26 dummy, and rating variables (rating had no effect)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were all collected and cleaned via eBay’s API and Python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8000" y="438750"/>
            <a:ext cx="4266000" cy="4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</p:txBody>
      </p:sp>
      <p:pic>
        <p:nvPicPr>
          <p:cNvPr id="96" name="Google Shape;96;p19" title="Graph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175" y="877500"/>
            <a:ext cx="5136256" cy="426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Equations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0" y="1446175"/>
            <a:ext cx="8520600" cy="3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OLS: </a:t>
            </a:r>
            <a:r>
              <a:rPr lang="en" i="1"/>
              <a:t>logofprice</a:t>
            </a:r>
            <a:r>
              <a:rPr lang="en" i="1" baseline="-25000"/>
              <a:t>it</a:t>
            </a:r>
            <a:r>
              <a:rPr lang="en" i="1"/>
              <a:t>= β</a:t>
            </a:r>
            <a:r>
              <a:rPr lang="en" i="1" baseline="-25000"/>
              <a:t>0</a:t>
            </a:r>
            <a:r>
              <a:rPr lang="en" i="1"/>
              <a:t>+ β</a:t>
            </a:r>
            <a:r>
              <a:rPr lang="en" i="1" baseline="-25000"/>
              <a:t>1</a:t>
            </a:r>
            <a:r>
              <a:rPr lang="en" i="1"/>
              <a:t>after2/22/26 + β</a:t>
            </a:r>
            <a:r>
              <a:rPr lang="en" i="1" baseline="-25000"/>
              <a:t>2</a:t>
            </a:r>
            <a:r>
              <a:rPr lang="en" i="1"/>
              <a:t>rating + β</a:t>
            </a:r>
            <a:r>
              <a:rPr lang="en" i="1" baseline="-25000"/>
              <a:t>3</a:t>
            </a:r>
            <a:r>
              <a:rPr lang="en" i="1"/>
              <a:t>logofshipping + β</a:t>
            </a:r>
            <a:r>
              <a:rPr lang="en" i="1" baseline="-25000"/>
              <a:t>4</a:t>
            </a:r>
            <a:r>
              <a:rPr lang="en" i="1"/>
              <a:t>usseller + ∊</a:t>
            </a:r>
            <a:endParaRPr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Filtered OLS: OLS: OLS: </a:t>
            </a:r>
            <a:r>
              <a:rPr lang="en" i="1"/>
              <a:t>logofexpensivecardprice</a:t>
            </a:r>
            <a:r>
              <a:rPr lang="en" i="1" baseline="-25000"/>
              <a:t>it</a:t>
            </a:r>
            <a:r>
              <a:rPr lang="en" i="1"/>
              <a:t>= β</a:t>
            </a:r>
            <a:r>
              <a:rPr lang="en" i="1" baseline="-25000"/>
              <a:t>0</a:t>
            </a:r>
            <a:r>
              <a:rPr lang="en" i="1"/>
              <a:t>+ β</a:t>
            </a:r>
            <a:r>
              <a:rPr lang="en" i="1" baseline="-25000"/>
              <a:t>1</a:t>
            </a:r>
            <a:r>
              <a:rPr lang="en" i="1"/>
              <a:t>logofshipping + β</a:t>
            </a:r>
            <a:r>
              <a:rPr lang="en" i="1" baseline="-25000"/>
              <a:t>2</a:t>
            </a:r>
            <a:r>
              <a:rPr lang="en" i="1"/>
              <a:t>rating + β</a:t>
            </a:r>
            <a:r>
              <a:rPr lang="en" i="1" baseline="-25000"/>
              <a:t>3</a:t>
            </a:r>
            <a:r>
              <a:rPr lang="en" i="1"/>
              <a:t>usseller + ∊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Polynomial: OLS: </a:t>
            </a:r>
            <a:r>
              <a:rPr lang="en" i="1"/>
              <a:t>logofprice</a:t>
            </a:r>
            <a:r>
              <a:rPr lang="en" i="1" baseline="-25000"/>
              <a:t>it</a:t>
            </a:r>
            <a:r>
              <a:rPr lang="en" i="1"/>
              <a:t>= β</a:t>
            </a:r>
            <a:r>
              <a:rPr lang="en" i="1" baseline="-25000"/>
              <a:t>0</a:t>
            </a:r>
            <a:r>
              <a:rPr lang="en" i="1"/>
              <a:t>+ β</a:t>
            </a:r>
            <a:r>
              <a:rPr lang="en" i="1" baseline="-25000"/>
              <a:t>1</a:t>
            </a:r>
            <a:r>
              <a:rPr lang="en" i="1"/>
              <a:t>logofshipping</a:t>
            </a:r>
            <a:r>
              <a:rPr lang="en" i="1" baseline="30000"/>
              <a:t>2</a:t>
            </a:r>
            <a:r>
              <a:rPr lang="en" i="1"/>
              <a:t> + β</a:t>
            </a:r>
            <a:r>
              <a:rPr lang="en" i="1" baseline="-25000"/>
              <a:t>2</a:t>
            </a:r>
            <a:r>
              <a:rPr lang="en" i="1"/>
              <a:t>rating + β</a:t>
            </a:r>
            <a:r>
              <a:rPr lang="en" i="1" baseline="-25000"/>
              <a:t>3</a:t>
            </a:r>
            <a:r>
              <a:rPr lang="en" i="1"/>
              <a:t>after2/22/26 + β</a:t>
            </a:r>
            <a:r>
              <a:rPr lang="en" i="1" baseline="-25000"/>
              <a:t>4</a:t>
            </a:r>
            <a:r>
              <a:rPr lang="en" i="1"/>
              <a:t>usseller + ∊</a:t>
            </a:r>
            <a:endParaRPr i="1" baseline="30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i="1" baseline="30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Regressions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 rotWithShape="1">
          <a:blip r:embed="rId3">
            <a:alphaModFix/>
          </a:blip>
          <a:srcRect r="51343" b="24976"/>
          <a:stretch/>
        </p:blipFill>
        <p:spPr>
          <a:xfrm>
            <a:off x="2284059" y="572699"/>
            <a:ext cx="3952495" cy="457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On-screen Show (16:9)</PresentationFormat>
  <Paragraphs>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Olympic Odysseys: The Impact of the "Golden Goal" On The Price Of Hockey Cards</vt:lpstr>
      <vt:lpstr>Introduction</vt:lpstr>
      <vt:lpstr>Research Question</vt:lpstr>
      <vt:lpstr>Data Collection</vt:lpstr>
      <vt:lpstr>Data Collection Parameters</vt:lpstr>
      <vt:lpstr>Variables</vt:lpstr>
      <vt:lpstr>Graphs</vt:lpstr>
      <vt:lpstr>Regression Equations</vt:lpstr>
      <vt:lpstr>Regressions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Yurcich, Jude Robert</cp:lastModifiedBy>
  <cp:revision>1</cp:revision>
  <dcterms:modified xsi:type="dcterms:W3CDTF">2026-06-25T03:09:11Z</dcterms:modified>
</cp:coreProperties>
</file>